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A3DD6-9968-43BC-B6C1-0D60103B8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F7DBDC-73C2-4B27-A28D-5A3A37795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A15449-2210-4259-8E0F-114C9A85D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94BC56-C319-488F-8BE5-DAA2F81B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FA6D54-204A-49FD-AEDE-13BCA0F8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75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7A95C-5416-4164-B437-0CAD12A65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AFC7DE-BC29-494C-A7B4-515B467BA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F7B044-3E19-4E91-82B0-2F19B306B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165FA8-7BA7-4479-8EAB-EA6B1700E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9C023C-62AF-4E49-918B-3EFBE762F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676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FFCDC-C8EB-42F8-98F0-055383666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E83A4D-C39C-4573-B680-A37E054FF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063F56-4938-4EC1-84AE-476DC6CF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DF5373-4F20-4798-B4AA-6FE9036B1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CEFC5-5EB8-4743-9EC4-D2BDD3BD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987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65D9C2-774F-44BB-BF3C-C1CD0A9F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731E8-EB96-4CC7-ADF9-FA23FEB4E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13A27F-5334-4080-8013-30A45820E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27188E-093F-4210-81DE-A453ED7EF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5912D2-839A-4CA9-9DA6-1D022C36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D25CD8-5E82-46F7-AE7E-B259F2C9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527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B1500D-DCCB-469F-B4ED-8DBAD3DE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156EEFE-8F92-45DE-9DA1-00773388A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DE4F74-BD42-4002-ABDA-23329CF31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2AB6096-6FA4-4CFA-8C85-6334660C2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B34FFE-1FA3-464E-B8E6-042429E191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DED6A9E-38D2-406E-89A6-0911B833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0BD0F18-BBAF-44DB-B64E-AC7BB8105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1DE809-2EF6-43D4-9581-AED48D1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17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5EEB6-01C6-42BD-B1E9-79B5E906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853C99-9F02-4088-BE0B-B3450E9D5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DA81C4-FE55-41FF-AE93-106294B6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8F90E26-1C3D-428A-B8A2-F2A0C780A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24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698196-7B1A-4EC2-B394-87AD3E4E3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A5CBD0A-7D35-4730-9560-7AAF96A0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6D4B63-E26D-47FE-AA0F-2FE028F96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19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436288-DF7D-43D6-8974-6DB2085E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FA09E3-7145-4FDC-BD4C-7B3431664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2E6D8C2-EA25-469C-91E2-8850F6D9D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D25E73-BBAD-4A56-AB10-5C775132D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318A0FB-F4BB-42FB-988B-A1A565C6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8E007C-D5F5-4CEB-8DD3-1AFF86116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574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5E1211-73E6-4CB1-91E9-A08FA764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874CF98-E6FD-45F0-BFC4-58C9F3178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433A1C-88FB-4F56-8162-DB8989DBD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954D6D-4E97-4AC2-B940-2377CCED8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1C705F-2211-404A-A181-D82669E47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AFA329-601E-4685-97B9-C1F029FE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86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64EBD-13D4-4D90-92D6-C57034B3C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92C581-22E4-43F8-8A3A-A8169D814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E642BC-BC97-49A7-B564-03002372B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25EE20-A7FC-4A79-BE8A-D78FA59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76DEB1-E621-46B2-9EBA-81880B539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066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CFC52F3-093D-4AF9-8677-D84A1EE81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6FE9EF-5938-4B66-AF38-1554773D3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1DD9CA-1C2E-40C5-AA08-79ACC804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91C37C-1E70-4152-A80D-3A8D5E61A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C9FDD7-2CF1-4469-9C1F-4A16149F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928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1DD73D-DF9C-48F0-B9C4-F3FCD02B9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9D8F4E-F241-4891-8AA9-15584A3F2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E73C52-799F-47F8-92BF-5EF2152E5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4CE87-AF22-4812-9652-BEA042FCD143}" type="datetimeFigureOut">
              <a:rPr lang="ru-RU" smtClean="0"/>
              <a:t>18.02.2026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B61D2B-3612-4738-A85E-723849F4B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999F2F-BEE0-49F8-8D8E-31F044BD6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77B71A-B0A7-4057-8B43-B63A386052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73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86D8E-5247-400B-9F8E-A8C7754E0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49717" y="2029502"/>
            <a:ext cx="5561938" cy="2570171"/>
          </a:xfrm>
        </p:spPr>
        <p:txBody>
          <a:bodyPr>
            <a:normAutofit/>
          </a:bodyPr>
          <a:lstStyle/>
          <a:p>
            <a:r>
              <a:rPr lang="ru-RU" sz="4400" dirty="0"/>
              <a:t>Жизнь</a:t>
            </a:r>
            <a:r>
              <a:rPr lang="en-US" sz="4400" dirty="0"/>
              <a:t> </a:t>
            </a:r>
            <a:r>
              <a:rPr lang="ru-RU" sz="4400" dirty="0"/>
              <a:t>после</a:t>
            </a:r>
            <a:r>
              <a:rPr lang="en-US" sz="4400" dirty="0"/>
              <a:t> </a:t>
            </a:r>
            <a:r>
              <a:rPr lang="ru-RU" sz="4400" dirty="0"/>
              <a:t>смерти</a:t>
            </a:r>
            <a:r>
              <a:rPr lang="en-US" sz="4400" dirty="0"/>
              <a:t> </a:t>
            </a:r>
            <a:r>
              <a:rPr lang="ru-RU" sz="4400" dirty="0"/>
              <a:t>аккаунта</a:t>
            </a:r>
            <a:r>
              <a:rPr lang="en-US" sz="4400" dirty="0"/>
              <a:t> </a:t>
            </a:r>
            <a:r>
              <a:rPr lang="ru-RU" sz="4400" dirty="0"/>
              <a:t>Цифровое</a:t>
            </a:r>
            <a:r>
              <a:rPr lang="en-US" sz="4400" dirty="0"/>
              <a:t> </a:t>
            </a:r>
            <a:r>
              <a:rPr lang="ru-RU" sz="4400" dirty="0"/>
              <a:t>наследие</a:t>
            </a:r>
            <a:r>
              <a:rPr lang="en-US" sz="4400" dirty="0"/>
              <a:t> </a:t>
            </a:r>
            <a:r>
              <a:rPr lang="ru-RU" sz="4400" dirty="0"/>
              <a:t>и</a:t>
            </a:r>
            <a:r>
              <a:rPr lang="en-US" sz="4400" dirty="0"/>
              <a:t> </a:t>
            </a:r>
            <a:r>
              <a:rPr lang="ru-RU" sz="4400" dirty="0"/>
              <a:t>управление</a:t>
            </a:r>
            <a:r>
              <a:rPr lang="en-US" sz="4400" dirty="0"/>
              <a:t> </a:t>
            </a:r>
            <a:r>
              <a:rPr lang="ru-RU" sz="4400" dirty="0"/>
              <a:t>данными</a:t>
            </a:r>
          </a:p>
        </p:txBody>
      </p:sp>
      <p:sp>
        <p:nvSpPr>
          <p:cNvPr id="23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39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B8AB4F-A8A7-4160-A791-8E33CC83D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Централизованные ресурсы 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B71091B-C685-40C6-BB3E-5CE0D07E1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62" y="1767816"/>
            <a:ext cx="2976619" cy="1661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1E2106-E577-4832-989A-8E24E65A97A1}"/>
              </a:ext>
            </a:extLst>
          </p:cNvPr>
          <p:cNvSpPr txBox="1"/>
          <p:nvPr/>
        </p:nvSpPr>
        <p:spPr>
          <a:xfrm>
            <a:off x="1211303" y="1325563"/>
            <a:ext cx="1683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Active Directory</a:t>
            </a:r>
            <a:endParaRPr lang="ru-RU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465DA76C-C824-46D9-AC7D-5B132958D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0950" y="1710765"/>
            <a:ext cx="3381497" cy="177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15D9D3-25E0-4AEA-B114-5FEFD545D44D}"/>
              </a:ext>
            </a:extLst>
          </p:cNvPr>
          <p:cNvSpPr txBox="1"/>
          <p:nvPr/>
        </p:nvSpPr>
        <p:spPr>
          <a:xfrm>
            <a:off x="4827666" y="1321688"/>
            <a:ext cx="2296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Корпоративная почта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C85E622D-2452-45DE-AF9A-B96AC7797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735" y="1691020"/>
            <a:ext cx="3174670" cy="1795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BC412C-9B8A-46F5-9E44-17BFC1825C3F}"/>
              </a:ext>
            </a:extLst>
          </p:cNvPr>
          <p:cNvSpPr txBox="1"/>
          <p:nvPr/>
        </p:nvSpPr>
        <p:spPr>
          <a:xfrm>
            <a:off x="8759423" y="1321688"/>
            <a:ext cx="2900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Корпоративные хранилища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75E3FF6-C045-43DC-9DCD-3F9C3F25B34C}"/>
              </a:ext>
            </a:extLst>
          </p:cNvPr>
          <p:cNvSpPr/>
          <p:nvPr/>
        </p:nvSpPr>
        <p:spPr>
          <a:xfrm>
            <a:off x="4445153" y="4120635"/>
            <a:ext cx="32272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Корпоративные мессенджеры </a:t>
            </a:r>
            <a:endParaRPr lang="ru-RU" dirty="0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9048D905-FC2F-49E4-B32D-1A4220622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813" y="4557361"/>
            <a:ext cx="1882239" cy="105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3F7E35DC-C65D-4870-86A5-EFE68A9B6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993" y="4557361"/>
            <a:ext cx="1974537" cy="105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8594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37813-66EA-41AE-B09F-22963F1A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Децентрализованные и облачные ресурсы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D79F12C-8121-43AF-99CB-8256542C2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42" y="1885682"/>
            <a:ext cx="3074720" cy="1712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FCAF598-2F16-45E3-AE84-20D474D58EB1}"/>
              </a:ext>
            </a:extLst>
          </p:cNvPr>
          <p:cNvSpPr/>
          <p:nvPr/>
        </p:nvSpPr>
        <p:spPr>
          <a:xfrm>
            <a:off x="3392436" y="1395351"/>
            <a:ext cx="12309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SaaS/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Paas</a:t>
            </a:r>
            <a:endParaRPr lang="ru-RU" dirty="0"/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EBAFFA41-F102-4C2D-8C3E-E8344C4FB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923" y="1817008"/>
            <a:ext cx="3138056" cy="187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A11D9E1D-4415-4EB9-A8EC-8F9F05E6C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43" y="4723348"/>
            <a:ext cx="7286625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624152-242A-4A19-BD89-CAF7367CA172}"/>
              </a:ext>
            </a:extLst>
          </p:cNvPr>
          <p:cNvSpPr/>
          <p:nvPr/>
        </p:nvSpPr>
        <p:spPr>
          <a:xfrm>
            <a:off x="3028424" y="4181311"/>
            <a:ext cx="19589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Локальные ключи</a:t>
            </a:r>
            <a:endParaRPr lang="ru-RU" dirty="0"/>
          </a:p>
        </p:txBody>
      </p:sp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F07EE9F0-ABE0-4C63-9B07-1BF03CE5A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4594" y="1885682"/>
            <a:ext cx="2797433" cy="2797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0D0914-751B-41B8-85F9-0EEDC93DA8AE}"/>
              </a:ext>
            </a:extLst>
          </p:cNvPr>
          <p:cNvSpPr/>
          <p:nvPr/>
        </p:nvSpPr>
        <p:spPr>
          <a:xfrm>
            <a:off x="9093052" y="1409951"/>
            <a:ext cx="1819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SaaS-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платформы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436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8FA6F-2FA8-4901-B1E5-129CDA6D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27" y="1825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Проблема «Одиночной точки отказа» (SPOF)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E6E28D4A-4450-41D4-A03B-F02288E22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53" y="1723411"/>
            <a:ext cx="2832264" cy="238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934813-3766-4BA3-8BD1-152B734F1AE0}"/>
              </a:ext>
            </a:extLst>
          </p:cNvPr>
          <p:cNvSpPr/>
          <p:nvPr/>
        </p:nvSpPr>
        <p:spPr>
          <a:xfrm>
            <a:off x="1885122" y="1486786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SPOF</a:t>
            </a:r>
          </a:p>
        </p:txBody>
      </p:sp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5A4D9758-486B-47E6-8B90-0378EA869F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22" b="17837"/>
          <a:stretch/>
        </p:blipFill>
        <p:spPr bwMode="auto">
          <a:xfrm>
            <a:off x="4601687" y="1856118"/>
            <a:ext cx="3194462" cy="227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4E2ACA1-8371-4D49-B4D8-21E45C354017}"/>
              </a:ext>
            </a:extLst>
          </p:cNvPr>
          <p:cNvSpPr/>
          <p:nvPr/>
        </p:nvSpPr>
        <p:spPr>
          <a:xfrm>
            <a:off x="4482069" y="1423610"/>
            <a:ext cx="3433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Отсутствуют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Break-glass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аккаунты</a:t>
            </a:r>
            <a:endParaRPr lang="ru-RU" dirty="0"/>
          </a:p>
        </p:txBody>
      </p:sp>
      <p:pic>
        <p:nvPicPr>
          <p:cNvPr id="3082" name="Picture 10" descr="Многофакторная аутентификация MFA">
            <a:extLst>
              <a:ext uri="{FF2B5EF4-FFF2-40B4-BE49-F238E27FC236}">
                <a16:creationId xmlns:a16="http://schemas.microsoft.com/office/drawing/2014/main" id="{8CF6FCE2-261A-45D7-BEE1-1555BE5AB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831" y="1856118"/>
            <a:ext cx="3475512" cy="260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7DFE49F-72C6-4399-BDED-91462099416C}"/>
              </a:ext>
            </a:extLst>
          </p:cNvPr>
          <p:cNvSpPr/>
          <p:nvPr/>
        </p:nvSpPr>
        <p:spPr>
          <a:xfrm>
            <a:off x="9156736" y="1486786"/>
            <a:ext cx="1975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MFA-авторизация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9164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C03CF-949F-41E2-9296-02BABCC77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065" y="-7732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Архитектурные требования и стандарты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A28B4-1A1B-4D31-AF02-6F80C17BFD29}"/>
              </a:ext>
            </a:extLst>
          </p:cNvPr>
          <p:cNvSpPr txBox="1"/>
          <p:nvPr/>
        </p:nvSpPr>
        <p:spPr>
          <a:xfrm>
            <a:off x="3283527" y="994665"/>
            <a:ext cx="4936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/>
              <a:t>Интеграция с ITSM и ITIL</a:t>
            </a:r>
          </a:p>
        </p:txBody>
      </p:sp>
      <p:pic>
        <p:nvPicPr>
          <p:cNvPr id="4098" name="Picture 2" descr="Триггер — Википедия">
            <a:extLst>
              <a:ext uri="{FF2B5EF4-FFF2-40B4-BE49-F238E27FC236}">
                <a16:creationId xmlns:a16="http://schemas.microsoft.com/office/drawing/2014/main" id="{859B973E-251E-4EA4-AF9C-1B3AD6849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30" y="2532709"/>
            <a:ext cx="3780869" cy="2149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EE4EF9D-1D9A-4C27-B39F-56A0914E0D53}"/>
              </a:ext>
            </a:extLst>
          </p:cNvPr>
          <p:cNvSpPr/>
          <p:nvPr/>
        </p:nvSpPr>
        <p:spPr>
          <a:xfrm>
            <a:off x="1487523" y="2092428"/>
            <a:ext cx="179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Триггер события</a:t>
            </a:r>
            <a:endParaRPr lang="ru-RU" dirty="0"/>
          </a:p>
        </p:txBody>
      </p:sp>
      <p:pic>
        <p:nvPicPr>
          <p:cNvPr id="4102" name="Picture 6" descr="Workflow management: Definition &amp; best practices | Zapier">
            <a:extLst>
              <a:ext uri="{FF2B5EF4-FFF2-40B4-BE49-F238E27FC236}">
                <a16:creationId xmlns:a16="http://schemas.microsoft.com/office/drawing/2014/main" id="{7A85267B-F8B1-4933-9D07-FBDDDFDBB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78"/>
          <a:stretch/>
        </p:blipFill>
        <p:spPr bwMode="auto">
          <a:xfrm>
            <a:off x="5281581" y="2461760"/>
            <a:ext cx="1749570" cy="3113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0DD80A3-024D-42B3-9523-6CDDB569E68D}"/>
              </a:ext>
            </a:extLst>
          </p:cNvPr>
          <p:cNvSpPr/>
          <p:nvPr/>
        </p:nvSpPr>
        <p:spPr>
          <a:xfrm>
            <a:off x="5560958" y="2033051"/>
            <a:ext cx="10958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Workflow</a:t>
            </a:r>
            <a:endParaRPr lang="ru-RU" dirty="0"/>
          </a:p>
        </p:txBody>
      </p:sp>
      <p:pic>
        <p:nvPicPr>
          <p:cNvPr id="4104" name="Picture 8" descr="Как работает SLA | Administration &amp; Settings | Сообщество поддержки -  UseResponse">
            <a:extLst>
              <a:ext uri="{FF2B5EF4-FFF2-40B4-BE49-F238E27FC236}">
                <a16:creationId xmlns:a16="http://schemas.microsoft.com/office/drawing/2014/main" id="{33B927B6-DF3A-4E06-BD51-8EA285C2F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997" y="2878641"/>
            <a:ext cx="4171950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105F994-C349-4010-90D8-D1C2CE43B64A}"/>
              </a:ext>
            </a:extLst>
          </p:cNvPr>
          <p:cNvSpPr/>
          <p:nvPr/>
        </p:nvSpPr>
        <p:spPr>
          <a:xfrm>
            <a:off x="9362323" y="2163377"/>
            <a:ext cx="5212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387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9F2B4-FAFF-4A30-BEBF-C3FBE112A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639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Соответствие стандартам безопасности</a:t>
            </a:r>
          </a:p>
        </p:txBody>
      </p:sp>
      <p:pic>
        <p:nvPicPr>
          <p:cNvPr id="5122" name="Picture 2" descr="De-Register a Device from the &quot;NMU&quot; WiFi Network | Technology Support  Services">
            <a:extLst>
              <a:ext uri="{FF2B5EF4-FFF2-40B4-BE49-F238E27FC236}">
                <a16:creationId xmlns:a16="http://schemas.microsoft.com/office/drawing/2014/main" id="{FD8C2A42-6786-497C-9691-816A02C96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89" y="2684635"/>
            <a:ext cx="4098966" cy="2725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E206343-EF82-4C56-9130-0391A6F95A3F}"/>
              </a:ext>
            </a:extLst>
          </p:cNvPr>
          <p:cNvSpPr/>
          <p:nvPr/>
        </p:nvSpPr>
        <p:spPr>
          <a:xfrm>
            <a:off x="962191" y="2122116"/>
            <a:ext cx="3148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Registration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de-registration</a:t>
            </a:r>
            <a:endParaRPr lang="ru-RU" dirty="0"/>
          </a:p>
        </p:txBody>
      </p:sp>
      <p:pic>
        <p:nvPicPr>
          <p:cNvPr id="5124" name="Picture 4" descr="PII Storage for GDPR and CCPA Compliance | Persona">
            <a:extLst>
              <a:ext uri="{FF2B5EF4-FFF2-40B4-BE49-F238E27FC236}">
                <a16:creationId xmlns:a16="http://schemas.microsoft.com/office/drawing/2014/main" id="{78132525-E9AC-4401-9571-D7D1D473D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250" y="2684635"/>
            <a:ext cx="5294416" cy="2647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CC6A905-3370-42B5-B400-2A5F6DC959DF}"/>
              </a:ext>
            </a:extLst>
          </p:cNvPr>
          <p:cNvSpPr/>
          <p:nvPr/>
        </p:nvSpPr>
        <p:spPr>
          <a:xfrm>
            <a:off x="7307853" y="2252744"/>
            <a:ext cx="2823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Privacy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protection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PII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8390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EBE62-6365-495D-966D-F3DBAFE1D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Правовые ограничения как техническое требование</a:t>
            </a:r>
          </a:p>
        </p:txBody>
      </p:sp>
      <p:pic>
        <p:nvPicPr>
          <p:cNvPr id="6146" name="Picture 2" descr="Логирование: понятие, механизмы и уровни / Хабр">
            <a:extLst>
              <a:ext uri="{FF2B5EF4-FFF2-40B4-BE49-F238E27FC236}">
                <a16:creationId xmlns:a16="http://schemas.microsoft.com/office/drawing/2014/main" id="{CFE060CD-1BD6-4C71-ABBC-5C3C677FC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40" y="2551277"/>
            <a:ext cx="3214791" cy="1755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D1829A-DA31-429B-A8DA-65B346492158}"/>
              </a:ext>
            </a:extLst>
          </p:cNvPr>
          <p:cNvSpPr/>
          <p:nvPr/>
        </p:nvSpPr>
        <p:spPr>
          <a:xfrm>
            <a:off x="1548487" y="2044926"/>
            <a:ext cx="14814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Логирование</a:t>
            </a:r>
            <a:endParaRPr lang="ru-RU" dirty="0"/>
          </a:p>
        </p:txBody>
      </p:sp>
      <p:pic>
        <p:nvPicPr>
          <p:cNvPr id="6148" name="Picture 4" descr="Шифрование базы данных — Википедия">
            <a:extLst>
              <a:ext uri="{FF2B5EF4-FFF2-40B4-BE49-F238E27FC236}">
                <a16:creationId xmlns:a16="http://schemas.microsoft.com/office/drawing/2014/main" id="{79BB18D2-0422-45A4-907C-647494954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7647" y="2414258"/>
            <a:ext cx="5324104" cy="399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90B6655-EB8B-4DEC-B294-6BFE9445726B}"/>
              </a:ext>
            </a:extLst>
          </p:cNvPr>
          <p:cNvSpPr/>
          <p:nvPr/>
        </p:nvSpPr>
        <p:spPr>
          <a:xfrm>
            <a:off x="7153563" y="2044926"/>
            <a:ext cx="14830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Шифрование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7937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64D69-8184-42AD-8E65-F6407AF2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27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Анализ технических рисков инфраструктуры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729C11-421D-467B-82C9-D996C0F72E5A}"/>
              </a:ext>
            </a:extLst>
          </p:cNvPr>
          <p:cNvSpPr/>
          <p:nvPr/>
        </p:nvSpPr>
        <p:spPr>
          <a:xfrm>
            <a:off x="3960192" y="1255217"/>
            <a:ext cx="42854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Риски целостности данных</a:t>
            </a:r>
            <a:endParaRPr lang="ru-RU" sz="2800" dirty="0"/>
          </a:p>
        </p:txBody>
      </p:sp>
      <p:pic>
        <p:nvPicPr>
          <p:cNvPr id="7170" name="Picture 2" descr="Ключи шифрования: виды, типы, длина и лучшие практики управления">
            <a:extLst>
              <a:ext uri="{FF2B5EF4-FFF2-40B4-BE49-F238E27FC236}">
                <a16:creationId xmlns:a16="http://schemas.microsoft.com/office/drawing/2014/main" id="{C893C8E3-E0F4-4CE8-BF5D-EDADBF5E7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69" y="2916446"/>
            <a:ext cx="4362389" cy="2375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67F6E0-FA05-4054-A1EF-F7A277E629AD}"/>
              </a:ext>
            </a:extLst>
          </p:cNvPr>
          <p:cNvSpPr/>
          <p:nvPr/>
        </p:nvSpPr>
        <p:spPr>
          <a:xfrm>
            <a:off x="970784" y="2396114"/>
            <a:ext cx="2989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Потеря ключей шифрования</a:t>
            </a:r>
            <a:endParaRPr lang="ru-RU" dirty="0"/>
          </a:p>
        </p:txBody>
      </p:sp>
      <p:pic>
        <p:nvPicPr>
          <p:cNvPr id="7174" name="Picture 6" descr="База данных Фирма | ACCESS | Bd-Subd.Ru">
            <a:extLst>
              <a:ext uri="{FF2B5EF4-FFF2-40B4-BE49-F238E27FC236}">
                <a16:creationId xmlns:a16="http://schemas.microsoft.com/office/drawing/2014/main" id="{E2DBF47C-6192-440C-9F51-035C40C82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261" y="2926914"/>
            <a:ext cx="487680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4CE134-B907-4A02-B3FB-7AC3D334852B}"/>
              </a:ext>
            </a:extLst>
          </p:cNvPr>
          <p:cNvSpPr/>
          <p:nvPr/>
        </p:nvSpPr>
        <p:spPr>
          <a:xfrm>
            <a:off x="7258084" y="2474040"/>
            <a:ext cx="24303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Коррупция баз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0923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6ADD7-7EE5-4A6A-9CDD-70455D95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701" y="1825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Коррупция баз данных</a:t>
            </a:r>
          </a:p>
        </p:txBody>
      </p:sp>
      <p:pic>
        <p:nvPicPr>
          <p:cNvPr id="8194" name="Picture 2" descr="Крупному бизнесу в России запретят иностранные облака с 2027 года: причины,  последствия и курс на суверенный FinOps / Хабр">
            <a:extLst>
              <a:ext uri="{FF2B5EF4-FFF2-40B4-BE49-F238E27FC236}">
                <a16:creationId xmlns:a16="http://schemas.microsoft.com/office/drawing/2014/main" id="{CF51EFF5-7198-47E1-A56E-58856CB10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654" y="2391141"/>
            <a:ext cx="3413599" cy="227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52E336-2B75-4572-8EE0-E45CAF151556}"/>
              </a:ext>
            </a:extLst>
          </p:cNvPr>
          <p:cNvSpPr/>
          <p:nvPr/>
        </p:nvSpPr>
        <p:spPr>
          <a:xfrm>
            <a:off x="1429857" y="1866796"/>
            <a:ext cx="32996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Блокировка облачных ресурсов</a:t>
            </a:r>
            <a:endParaRPr lang="ru-RU" dirty="0"/>
          </a:p>
        </p:txBody>
      </p:sp>
      <p:pic>
        <p:nvPicPr>
          <p:cNvPr id="8196" name="Picture 4" descr="Ограничения истекшей лицензии - База знаний GBS.Market">
            <a:extLst>
              <a:ext uri="{FF2B5EF4-FFF2-40B4-BE49-F238E27FC236}">
                <a16:creationId xmlns:a16="http://schemas.microsoft.com/office/drawing/2014/main" id="{CC7B7504-C1C7-463C-A447-1F03DA136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118" y="2483676"/>
            <a:ext cx="3044405" cy="227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6C11E78-1A50-4114-9C60-C58D2B203E04}"/>
              </a:ext>
            </a:extLst>
          </p:cNvPr>
          <p:cNvSpPr/>
          <p:nvPr/>
        </p:nvSpPr>
        <p:spPr>
          <a:xfrm>
            <a:off x="7298723" y="2021809"/>
            <a:ext cx="22259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Истечение лицензий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1843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7DF3BD-16D1-4741-B855-6DA1C4605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878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Угрозы безопасности</a:t>
            </a:r>
          </a:p>
        </p:txBody>
      </p:sp>
      <p:sp>
        <p:nvSpPr>
          <p:cNvPr id="5" name="AutoShape 2" descr="Session hijacking - Glossary | MDN">
            <a:extLst>
              <a:ext uri="{FF2B5EF4-FFF2-40B4-BE49-F238E27FC236}">
                <a16:creationId xmlns:a16="http://schemas.microsoft.com/office/drawing/2014/main" id="{60B1EDBF-5AE8-4529-BAEC-E7CB9B3550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Session hijacking - Glossary | MDN">
            <a:extLst>
              <a:ext uri="{FF2B5EF4-FFF2-40B4-BE49-F238E27FC236}">
                <a16:creationId xmlns:a16="http://schemas.microsoft.com/office/drawing/2014/main" id="{4914A412-06AA-495F-A6AE-CBE41D51D7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222" name="Picture 6" descr="What Is Session Hijacking?">
            <a:extLst>
              <a:ext uri="{FF2B5EF4-FFF2-40B4-BE49-F238E27FC236}">
                <a16:creationId xmlns:a16="http://schemas.microsoft.com/office/drawing/2014/main" id="{CE12A42E-0F01-40E6-8844-5C36A88F3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924" y="1592468"/>
            <a:ext cx="5392676" cy="480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9D4360-3BE0-47A4-BDD8-2046A0D72B37}"/>
              </a:ext>
            </a:extLst>
          </p:cNvPr>
          <p:cNvSpPr/>
          <p:nvPr/>
        </p:nvSpPr>
        <p:spPr>
          <a:xfrm>
            <a:off x="2443557" y="1223136"/>
            <a:ext cx="1782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Session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Hijacking</a:t>
            </a:r>
            <a:endParaRPr lang="ru-RU" dirty="0"/>
          </a:p>
        </p:txBody>
      </p:sp>
      <p:pic>
        <p:nvPicPr>
          <p:cNvPr id="9224" name="Picture 8" descr="Are Orphaned Accounts Putting Your Organization at Risk? - PATECCO GmbH">
            <a:extLst>
              <a:ext uri="{FF2B5EF4-FFF2-40B4-BE49-F238E27FC236}">
                <a16:creationId xmlns:a16="http://schemas.microsoft.com/office/drawing/2014/main" id="{A7F5D3E8-6F6B-4A03-9041-D210491E31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73"/>
          <a:stretch/>
        </p:blipFill>
        <p:spPr bwMode="auto">
          <a:xfrm>
            <a:off x="6248400" y="1592468"/>
            <a:ext cx="5214282" cy="246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5192941-B62B-416B-8D0F-1A54CDFF5DE6}"/>
              </a:ext>
            </a:extLst>
          </p:cNvPr>
          <p:cNvSpPr/>
          <p:nvPr/>
        </p:nvSpPr>
        <p:spPr>
          <a:xfrm>
            <a:off x="8303182" y="1407802"/>
            <a:ext cx="1950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Orphaned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Account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705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BFE60-D0C7-4691-A71B-F5B0DF04F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764" y="1825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Техническая реализация: Модель внедрения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973807E-5A9B-4C13-B15C-846FBAA17D71}"/>
              </a:ext>
            </a:extLst>
          </p:cNvPr>
          <p:cNvSpPr/>
          <p:nvPr/>
        </p:nvSpPr>
        <p:spPr>
          <a:xfrm>
            <a:off x="3047498" y="1343818"/>
            <a:ext cx="63941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Архитектура управления доступом (IAM)</a:t>
            </a:r>
            <a:endParaRPr lang="ru-RU" sz="2800" dirty="0"/>
          </a:p>
        </p:txBody>
      </p:sp>
      <p:pic>
        <p:nvPicPr>
          <p:cNvPr id="10242" name="Picture 2" descr="Как работает single sign-on (технология единого входа)? / Хабр">
            <a:extLst>
              <a:ext uri="{FF2B5EF4-FFF2-40B4-BE49-F238E27FC236}">
                <a16:creationId xmlns:a16="http://schemas.microsoft.com/office/drawing/2014/main" id="{E331E9AA-9AD1-4D49-AEB9-834F9F8517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19"/>
          <a:stretch/>
        </p:blipFill>
        <p:spPr bwMode="auto">
          <a:xfrm>
            <a:off x="53437" y="2669381"/>
            <a:ext cx="4940137" cy="3285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09459A-6E98-465B-B0E2-CDD6E11C3FBF}"/>
              </a:ext>
            </a:extLst>
          </p:cNvPr>
          <p:cNvSpPr/>
          <p:nvPr/>
        </p:nvSpPr>
        <p:spPr>
          <a:xfrm>
            <a:off x="1574811" y="2211181"/>
            <a:ext cx="16915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Внедрение SSO</a:t>
            </a:r>
            <a:endParaRPr lang="ru-RU" dirty="0"/>
          </a:p>
        </p:txBody>
      </p:sp>
      <p:pic>
        <p:nvPicPr>
          <p:cNvPr id="10244" name="Picture 4" descr="Подход к созданию децентрализованной цифровой идентичности / Хабр">
            <a:extLst>
              <a:ext uri="{FF2B5EF4-FFF2-40B4-BE49-F238E27FC236}">
                <a16:creationId xmlns:a16="http://schemas.microsoft.com/office/drawing/2014/main" id="{0E5072CA-C0A9-441C-ADB4-08D94EF27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097" y="2633044"/>
            <a:ext cx="5402169" cy="3497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C19761F-C887-406E-8748-6B8F3766A0CD}"/>
              </a:ext>
            </a:extLst>
          </p:cNvPr>
          <p:cNvSpPr/>
          <p:nvPr/>
        </p:nvSpPr>
        <p:spPr>
          <a:xfrm>
            <a:off x="6569074" y="2211181"/>
            <a:ext cx="4100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центральный провайдер идентичности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12842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118</Words>
  <Application>Microsoft Office PowerPoint</Application>
  <PresentationFormat>Широкоэкранный</PresentationFormat>
  <Paragraphs>39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Жизнь после смерти аккаунта Цифровое наследие и управление данными</vt:lpstr>
      <vt:lpstr>Централизованные ресурсы </vt:lpstr>
      <vt:lpstr>Децентрализованные и облачные ресурсы </vt:lpstr>
      <vt:lpstr>Проблема «Одиночной точки отказа» (SPOF)</vt:lpstr>
      <vt:lpstr>Архитектурные требования и стандарты</vt:lpstr>
      <vt:lpstr>Соответствие стандартам безопасности</vt:lpstr>
      <vt:lpstr>Правовые ограничения как техническое требование</vt:lpstr>
      <vt:lpstr>Анализ технических рисков инфраструктуры</vt:lpstr>
      <vt:lpstr>Коррупция баз данных</vt:lpstr>
      <vt:lpstr>Угрозы безопасности</vt:lpstr>
      <vt:lpstr>Техническая реализация: Модель внедрения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Жизнь после смерти аккаунта Цифровое наследие и управление данными</dc:title>
  <dc:creator>Никита Бакшилов</dc:creator>
  <cp:lastModifiedBy>Никита Бакшилов</cp:lastModifiedBy>
  <cp:revision>8</cp:revision>
  <dcterms:created xsi:type="dcterms:W3CDTF">2026-02-18T18:51:49Z</dcterms:created>
  <dcterms:modified xsi:type="dcterms:W3CDTF">2026-02-19T05:03:54Z</dcterms:modified>
</cp:coreProperties>
</file>