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46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5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9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2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4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7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5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4136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11" r:id="rId5"/>
    <p:sldLayoutId id="2147483712" r:id="rId6"/>
    <p:sldLayoutId id="2147483717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3.jpeg"/><Relationship Id="rId7" Type="http://schemas.openxmlformats.org/officeDocument/2006/relationships/image" Target="../media/image2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17.jpeg"/><Relationship Id="rId4" Type="http://schemas.openxmlformats.org/officeDocument/2006/relationships/image" Target="../media/image15.png"/><Relationship Id="rId9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00D72-6AF2-0D10-863E-83ECA92558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744" b="4935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A76E0-7BC2-48B4-A89E-D55EE74EB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514475"/>
            <a:ext cx="8381999" cy="1995487"/>
          </a:xfrm>
        </p:spPr>
        <p:txBody>
          <a:bodyPr>
            <a:normAutofit/>
          </a:bodyPr>
          <a:lstStyle/>
          <a:p>
            <a:pPr algn="l"/>
            <a:r>
              <a:rPr lang="ru-RU" sz="8000"/>
              <a:t>Утилиты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11EED3-4EF6-4A43-A07C-C9FABE838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8382000" cy="133847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Windows</a:t>
            </a:r>
            <a:r>
              <a:rPr lang="ru-RU" dirty="0"/>
              <a:t>, </a:t>
            </a:r>
            <a:r>
              <a:rPr lang="en-US" dirty="0"/>
              <a:t>MacOS, </a:t>
            </a:r>
            <a:r>
              <a:rPr lang="en-US" dirty="0" err="1"/>
              <a:t>Lunix</a:t>
            </a:r>
            <a:endParaRPr lang="ru-RU" dirty="0"/>
          </a:p>
        </p:txBody>
      </p:sp>
      <p:sp>
        <p:nvSpPr>
          <p:cNvPr id="5" name="AutoShape 4" descr="Утилиты: что это такое и как ими пользоваться">
            <a:extLst>
              <a:ext uri="{FF2B5EF4-FFF2-40B4-BE49-F238E27FC236}">
                <a16:creationId xmlns:a16="http://schemas.microsoft.com/office/drawing/2014/main" id="{0864FC8B-8CAA-444B-9B98-EB05245AF7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59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7EE0E-1C17-4FB9-90E9-9B3D8C23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76" y="615696"/>
            <a:ext cx="9144000" cy="1263649"/>
          </a:xfrm>
        </p:spPr>
        <p:txBody>
          <a:bodyPr/>
          <a:lstStyle/>
          <a:p>
            <a:pPr algn="ctr"/>
            <a:r>
              <a:rPr lang="ru-RU" dirty="0"/>
              <a:t>Определение конфигурации ПК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94DBB6-40A8-48AE-B311-5FC4DEED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" y="1621536"/>
            <a:ext cx="6388608" cy="42336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000" dirty="0"/>
              <a:t>1. Оценка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sz="4000" dirty="0"/>
              <a:t>2. Подбор совместимого ПО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sz="4000" dirty="0"/>
              <a:t>3. Диагностика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sz="4000" dirty="0"/>
              <a:t>4. Сравнение параметров</a:t>
            </a:r>
          </a:p>
        </p:txBody>
      </p:sp>
      <p:pic>
        <p:nvPicPr>
          <p:cNvPr id="2050" name="Picture 2" descr="Оценка качества работы сотрудников">
            <a:extLst>
              <a:ext uri="{FF2B5EF4-FFF2-40B4-BE49-F238E27FC236}">
                <a16:creationId xmlns:a16="http://schemas.microsoft.com/office/drawing/2014/main" id="{C205A1A5-F7E9-4749-893F-3F9ADC187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432" y="1310830"/>
            <a:ext cx="1895048" cy="113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Виды лицензий на программное обеспечение">
            <a:extLst>
              <a:ext uri="{FF2B5EF4-FFF2-40B4-BE49-F238E27FC236}">
                <a16:creationId xmlns:a16="http://schemas.microsoft.com/office/drawing/2014/main" id="{98BE5423-A9B5-4C48-9D0C-32B5271A2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858" y="2400903"/>
            <a:ext cx="2133939" cy="1337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Диагностика компьютера в домашних условиях">
            <a:extLst>
              <a:ext uri="{FF2B5EF4-FFF2-40B4-BE49-F238E27FC236}">
                <a16:creationId xmlns:a16="http://schemas.microsoft.com/office/drawing/2014/main" id="{C79C46A3-7890-40A2-87CB-74E40B331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479" y="3570722"/>
            <a:ext cx="1879664" cy="140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Диаграмма сравнения роста показателей Excel | finalytics.pro">
            <a:extLst>
              <a:ext uri="{FF2B5EF4-FFF2-40B4-BE49-F238E27FC236}">
                <a16:creationId xmlns:a16="http://schemas.microsoft.com/office/drawing/2014/main" id="{30CB20CD-5A14-4577-92F0-17034033D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17636"/>
            <a:ext cx="2274569" cy="126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25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3B30B-0759-47AE-9B4F-A0A45AC9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3504" y="181798"/>
            <a:ext cx="9144000" cy="1263649"/>
          </a:xfrm>
        </p:spPr>
        <p:txBody>
          <a:bodyPr/>
          <a:lstStyle/>
          <a:p>
            <a:pPr algn="ctr"/>
            <a:r>
              <a:rPr lang="en-US" dirty="0"/>
              <a:t>Windows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4108C-D136-465B-BF88-9A568E7E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728" y="2196625"/>
            <a:ext cx="4462272" cy="22822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18E723-7734-44E7-BD43-5AB19924A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728" y="4522537"/>
            <a:ext cx="4462272" cy="23354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54E6E7-32EE-46E1-8186-8539499B7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729" y="-1"/>
            <a:ext cx="4462272" cy="2196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BB8A3E-C1EB-4B94-A150-025A6AF17834}"/>
              </a:ext>
            </a:extLst>
          </p:cNvPr>
          <p:cNvSpPr txBox="1"/>
          <p:nvPr/>
        </p:nvSpPr>
        <p:spPr>
          <a:xfrm>
            <a:off x="719328" y="3075057"/>
            <a:ext cx="3836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Диспетчер задач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E810D-1579-48A8-B95B-FD3B2E9AC737}"/>
              </a:ext>
            </a:extLst>
          </p:cNvPr>
          <p:cNvSpPr txBox="1"/>
          <p:nvPr/>
        </p:nvSpPr>
        <p:spPr>
          <a:xfrm>
            <a:off x="719328" y="1273303"/>
            <a:ext cx="4129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Командная строка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0FD07-4F86-42DB-8700-136CA43505A1}"/>
              </a:ext>
            </a:extLst>
          </p:cNvPr>
          <p:cNvSpPr txBox="1"/>
          <p:nvPr/>
        </p:nvSpPr>
        <p:spPr>
          <a:xfrm>
            <a:off x="719328" y="4982382"/>
            <a:ext cx="25796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PowerShell:</a:t>
            </a:r>
            <a:endParaRPr lang="ru-RU" sz="40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4D3483E-DA74-4199-B426-958EAA1BFC0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849113" y="1627246"/>
            <a:ext cx="3526791" cy="39574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03E317F-E209-4D2D-BF92-1A2C2B26552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555956" y="3429000"/>
            <a:ext cx="3734604" cy="167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DFCD9F1-400E-41CE-926A-AEE5AE8C46DE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298945" y="1627246"/>
            <a:ext cx="5418335" cy="37090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92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17998-9838-401B-A88C-808B955C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62" y="468920"/>
            <a:ext cx="9144000" cy="1263649"/>
          </a:xfrm>
        </p:spPr>
        <p:txBody>
          <a:bodyPr/>
          <a:lstStyle/>
          <a:p>
            <a:pPr algn="ctr"/>
            <a:r>
              <a:rPr lang="ru-RU" dirty="0"/>
              <a:t>Сторонние утилиты</a:t>
            </a:r>
          </a:p>
        </p:txBody>
      </p:sp>
      <p:pic>
        <p:nvPicPr>
          <p:cNvPr id="3074" name="Picture 2" descr="Belarc Advisor для Windows - Скачайте бесплатно с Uptodown">
            <a:extLst>
              <a:ext uri="{FF2B5EF4-FFF2-40B4-BE49-F238E27FC236}">
                <a16:creationId xmlns:a16="http://schemas.microsoft.com/office/drawing/2014/main" id="{CC6CF57E-C6EA-4656-8583-C3250954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10" y="3119564"/>
            <a:ext cx="1673352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PU-Z — Википедия">
            <a:extLst>
              <a:ext uri="{FF2B5EF4-FFF2-40B4-BE49-F238E27FC236}">
                <a16:creationId xmlns:a16="http://schemas.microsoft.com/office/drawing/2014/main" id="{2AFD5E11-B062-43CE-93C5-DCE05A137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324" y="3119564"/>
            <a:ext cx="1673352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PU-Z – Download">
            <a:extLst>
              <a:ext uri="{FF2B5EF4-FFF2-40B4-BE49-F238E27FC236}">
                <a16:creationId xmlns:a16="http://schemas.microsoft.com/office/drawing/2014/main" id="{3AF3ED17-BD7F-4EB7-9D8C-F5F02B9B7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902215"/>
            <a:ext cx="2133600" cy="184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T Asset Management For The Internet Age - Belarc, Inc.">
            <a:extLst>
              <a:ext uri="{FF2B5EF4-FFF2-40B4-BE49-F238E27FC236}">
                <a16:creationId xmlns:a16="http://schemas.microsoft.com/office/drawing/2014/main" id="{3654D739-E55E-4950-AC19-BEB5F82397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88" y="4966080"/>
            <a:ext cx="2117796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IW (System Info) для Windows - Скачайте бесплатно с Uptodown">
            <a:extLst>
              <a:ext uri="{FF2B5EF4-FFF2-40B4-BE49-F238E27FC236}">
                <a16:creationId xmlns:a16="http://schemas.microsoft.com/office/drawing/2014/main" id="{B1BD57DD-D12C-4F09-9864-42C132C9A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67" y="3119564"/>
            <a:ext cx="1673352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SIW - The Ultimate System Information Tool for Windows by Gabriel Topala">
            <a:extLst>
              <a:ext uri="{FF2B5EF4-FFF2-40B4-BE49-F238E27FC236}">
                <a16:creationId xmlns:a16="http://schemas.microsoft.com/office/drawing/2014/main" id="{72420025-30AD-4BEC-9174-B8577AD03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794" y="4966080"/>
            <a:ext cx="2117796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Speccy (программа) — Википедия">
            <a:extLst>
              <a:ext uri="{FF2B5EF4-FFF2-40B4-BE49-F238E27FC236}">
                <a16:creationId xmlns:a16="http://schemas.microsoft.com/office/drawing/2014/main" id="{A3BC5FE2-0B72-4BA5-B748-0B70223D8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093" y="3119564"/>
            <a:ext cx="1673352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Speccy - скачать бесплатно Speccy 1.33.075">
            <a:extLst>
              <a:ext uri="{FF2B5EF4-FFF2-40B4-BE49-F238E27FC236}">
                <a16:creationId xmlns:a16="http://schemas.microsoft.com/office/drawing/2014/main" id="{B48D61A8-6551-4E40-AF0A-2C21D47F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10" y="4916091"/>
            <a:ext cx="2400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HWiNFO - Free System Information, Monitoring and Diagnostics">
            <a:extLst>
              <a:ext uri="{FF2B5EF4-FFF2-40B4-BE49-F238E27FC236}">
                <a16:creationId xmlns:a16="http://schemas.microsoft.com/office/drawing/2014/main" id="{7D116A6B-9552-42B0-8EAF-515DF46200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0" t="66489" r="38941" b="3588"/>
          <a:stretch/>
        </p:blipFill>
        <p:spPr bwMode="auto">
          <a:xfrm>
            <a:off x="10212862" y="3119564"/>
            <a:ext cx="1673352" cy="160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HWiNFO - Free System Information, Monitoring and Diagnostics">
            <a:extLst>
              <a:ext uri="{FF2B5EF4-FFF2-40B4-BE49-F238E27FC236}">
                <a16:creationId xmlns:a16="http://schemas.microsoft.com/office/drawing/2014/main" id="{BDA480DE-D787-4C1A-9748-26905B7070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78"/>
          <a:stretch/>
        </p:blipFill>
        <p:spPr bwMode="auto">
          <a:xfrm>
            <a:off x="9982738" y="4957686"/>
            <a:ext cx="2133600" cy="172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DCCF20-FBF4-4A9D-8FE0-A647716DFE42}"/>
              </a:ext>
            </a:extLst>
          </p:cNvPr>
          <p:cNvSpPr txBox="1"/>
          <p:nvPr/>
        </p:nvSpPr>
        <p:spPr>
          <a:xfrm>
            <a:off x="5350347" y="2067293"/>
            <a:ext cx="14913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CPU-Z</a:t>
            </a:r>
            <a:endParaRPr lang="ru-RU" sz="4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A17C90B-98B6-4AFF-948A-AAFE027C71DA}"/>
              </a:ext>
            </a:extLst>
          </p:cNvPr>
          <p:cNvSpPr/>
          <p:nvPr/>
        </p:nvSpPr>
        <p:spPr>
          <a:xfrm>
            <a:off x="10117391" y="2067293"/>
            <a:ext cx="18642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>
                <a:ea typeface="Calibri" panose="020F0502020204030204" pitchFamily="34" charset="0"/>
                <a:cs typeface="Times New Roman" panose="02020603050405020304" pitchFamily="18" charset="0"/>
              </a:rPr>
              <a:t>HWiNFO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3250C2-2E3A-4C7A-ADD9-E94DC417933D}"/>
              </a:ext>
            </a:extLst>
          </p:cNvPr>
          <p:cNvSpPr/>
          <p:nvPr/>
        </p:nvSpPr>
        <p:spPr>
          <a:xfrm>
            <a:off x="3158188" y="2071161"/>
            <a:ext cx="10070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ea typeface="Calibri" panose="020F0502020204030204" pitchFamily="34" charset="0"/>
                <a:cs typeface="Times New Roman" panose="02020603050405020304" pitchFamily="18" charset="0"/>
              </a:rPr>
              <a:t>SIW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5CD7C-841D-46B7-BEEC-98B510125B71}"/>
              </a:ext>
            </a:extLst>
          </p:cNvPr>
          <p:cNvSpPr/>
          <p:nvPr/>
        </p:nvSpPr>
        <p:spPr>
          <a:xfrm>
            <a:off x="7842647" y="2046495"/>
            <a:ext cx="165782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>
                <a:ea typeface="Calibri" panose="020F0502020204030204" pitchFamily="34" charset="0"/>
                <a:cs typeface="Times New Roman" panose="02020603050405020304" pitchFamily="18" charset="0"/>
              </a:rPr>
              <a:t>Speccy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0C98B02-F6BB-4678-8459-60B2B204E2A6}"/>
              </a:ext>
            </a:extLst>
          </p:cNvPr>
          <p:cNvSpPr/>
          <p:nvPr/>
        </p:nvSpPr>
        <p:spPr>
          <a:xfrm>
            <a:off x="-43744" y="1709543"/>
            <a:ext cx="27014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err="1">
                <a:ea typeface="Calibri" panose="020F0502020204030204" pitchFamily="34" charset="0"/>
                <a:cs typeface="Times New Roman" panose="02020603050405020304" pitchFamily="18" charset="0"/>
              </a:rPr>
              <a:t>Belarc</a:t>
            </a:r>
            <a:r>
              <a:rPr lang="en-US" sz="4000" dirty="0">
                <a:ea typeface="Calibri" panose="020F0502020204030204" pitchFamily="34" charset="0"/>
                <a:cs typeface="Times New Roman" panose="02020603050405020304" pitchFamily="18" charset="0"/>
              </a:rPr>
              <a:t> Advisor 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2399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A9A77-DA36-4797-9DAE-6C925A9AE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71472" y="353568"/>
            <a:ext cx="9144000" cy="1263649"/>
          </a:xfrm>
        </p:spPr>
        <p:txBody>
          <a:bodyPr/>
          <a:lstStyle/>
          <a:p>
            <a:pPr algn="ctr"/>
            <a:r>
              <a:rPr lang="en-US" dirty="0"/>
              <a:t>MacOS</a:t>
            </a:r>
            <a:endParaRPr lang="ru-RU" dirty="0"/>
          </a:p>
        </p:txBody>
      </p:sp>
      <p:pic>
        <p:nvPicPr>
          <p:cNvPr id="4098" name="Picture 2" descr="Компьютеры Mac с чипом Apple - Служба поддержки Apple (RU)">
            <a:extLst>
              <a:ext uri="{FF2B5EF4-FFF2-40B4-BE49-F238E27FC236}">
                <a16:creationId xmlns:a16="http://schemas.microsoft.com/office/drawing/2014/main" id="{0FB5CE33-AF37-4CF8-85BB-B81D809B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586" y="-1"/>
            <a:ext cx="3258122" cy="390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Как узнать и проверить MacBook по серийному номеру">
            <a:extLst>
              <a:ext uri="{FF2B5EF4-FFF2-40B4-BE49-F238E27FC236}">
                <a16:creationId xmlns:a16="http://schemas.microsoft.com/office/drawing/2014/main" id="{64FFDEE1-58F4-4F8B-B03D-565C7EC8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013" y="3925824"/>
            <a:ext cx="4139397" cy="293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to Find Comprehensive Mac System Info via Terminal">
            <a:extLst>
              <a:ext uri="{FF2B5EF4-FFF2-40B4-BE49-F238E27FC236}">
                <a16:creationId xmlns:a16="http://schemas.microsoft.com/office/drawing/2014/main" id="{EF66180F-C423-45BE-9362-4ACEB8CA37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6" t="4050" r="5781" b="8390"/>
          <a:stretch/>
        </p:blipFill>
        <p:spPr bwMode="auto">
          <a:xfrm>
            <a:off x="8800708" y="0"/>
            <a:ext cx="3459883" cy="39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E8A138-D14B-47CC-A5EA-2A6461631C78}"/>
              </a:ext>
            </a:extLst>
          </p:cNvPr>
          <p:cNvSpPr txBox="1"/>
          <p:nvPr/>
        </p:nvSpPr>
        <p:spPr>
          <a:xfrm>
            <a:off x="818589" y="3196977"/>
            <a:ext cx="29944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Об этом </a:t>
            </a:r>
            <a:r>
              <a:rPr lang="en-US" sz="4000" dirty="0"/>
              <a:t>Mac:</a:t>
            </a:r>
            <a:endParaRPr lang="ru-RU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CB96E-75BD-4761-AFD9-DB64F7D0ED21}"/>
              </a:ext>
            </a:extLst>
          </p:cNvPr>
          <p:cNvSpPr txBox="1"/>
          <p:nvPr/>
        </p:nvSpPr>
        <p:spPr>
          <a:xfrm>
            <a:off x="818589" y="1395223"/>
            <a:ext cx="4129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Командная строка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0EB43-6929-407B-B6B9-0B511058A1C1}"/>
              </a:ext>
            </a:extLst>
          </p:cNvPr>
          <p:cNvSpPr txBox="1"/>
          <p:nvPr/>
        </p:nvSpPr>
        <p:spPr>
          <a:xfrm>
            <a:off x="818589" y="5104302"/>
            <a:ext cx="38258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Отчем о системе</a:t>
            </a:r>
            <a:r>
              <a:rPr lang="en-US" sz="4000" dirty="0"/>
              <a:t>:</a:t>
            </a:r>
            <a:endParaRPr lang="ru-RU" sz="4000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FA0D12E-61A8-4E5E-97A5-3224DA0704AF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948374" y="1487866"/>
            <a:ext cx="4683306" cy="261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B0B8568-AF5E-499B-BDBC-78B173DEE3C4}"/>
              </a:ext>
            </a:extLst>
          </p:cNvPr>
          <p:cNvCxnSpPr>
            <a:cxnSpLocks/>
            <a:stCxn id="9" idx="3"/>
            <a:endCxn id="4100" idx="1"/>
          </p:cNvCxnSpPr>
          <p:nvPr/>
        </p:nvCxnSpPr>
        <p:spPr>
          <a:xfrm flipV="1">
            <a:off x="4644445" y="5391912"/>
            <a:ext cx="2206568" cy="663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6A0DF2D-9B8D-4B2E-AB1B-9235B8516B3E}"/>
              </a:ext>
            </a:extLst>
          </p:cNvPr>
          <p:cNvCxnSpPr>
            <a:cxnSpLocks/>
          </p:cNvCxnSpPr>
          <p:nvPr/>
        </p:nvCxnSpPr>
        <p:spPr>
          <a:xfrm flipV="1">
            <a:off x="3665940" y="2390719"/>
            <a:ext cx="2515404" cy="12034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63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17998-9838-401B-A88C-808B955C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62" y="468920"/>
            <a:ext cx="9144000" cy="1263649"/>
          </a:xfrm>
        </p:spPr>
        <p:txBody>
          <a:bodyPr/>
          <a:lstStyle/>
          <a:p>
            <a:pPr algn="ctr"/>
            <a:r>
              <a:rPr lang="ru-RU" dirty="0"/>
              <a:t>Сторонние утилиты</a:t>
            </a:r>
          </a:p>
        </p:txBody>
      </p:sp>
      <p:pic>
        <p:nvPicPr>
          <p:cNvPr id="3078" name="Picture 6" descr="CPU-Z – Download">
            <a:extLst>
              <a:ext uri="{FF2B5EF4-FFF2-40B4-BE49-F238E27FC236}">
                <a16:creationId xmlns:a16="http://schemas.microsoft.com/office/drawing/2014/main" id="{3AF3ED17-BD7F-4EB7-9D8C-F5F02B9B7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735" y="4953297"/>
            <a:ext cx="2133600" cy="184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T Asset Management For The Internet Age - Belarc, Inc.">
            <a:extLst>
              <a:ext uri="{FF2B5EF4-FFF2-40B4-BE49-F238E27FC236}">
                <a16:creationId xmlns:a16="http://schemas.microsoft.com/office/drawing/2014/main" id="{3654D739-E55E-4950-AC19-BEB5F82397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88" y="4966080"/>
            <a:ext cx="2117796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SIW - The Ultimate System Information Tool for Windows by Gabriel Topala">
            <a:extLst>
              <a:ext uri="{FF2B5EF4-FFF2-40B4-BE49-F238E27FC236}">
                <a16:creationId xmlns:a16="http://schemas.microsoft.com/office/drawing/2014/main" id="{72420025-30AD-4BEC-9174-B8577AD03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949" y="5018006"/>
            <a:ext cx="2117796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Speccy - скачать бесплатно Speccy 1.33.075">
            <a:extLst>
              <a:ext uri="{FF2B5EF4-FFF2-40B4-BE49-F238E27FC236}">
                <a16:creationId xmlns:a16="http://schemas.microsoft.com/office/drawing/2014/main" id="{B48D61A8-6551-4E40-AF0A-2C21D47F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115" y="4839445"/>
            <a:ext cx="2400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DCCF20-FBF4-4A9D-8FE0-A647716DFE42}"/>
              </a:ext>
            </a:extLst>
          </p:cNvPr>
          <p:cNvSpPr txBox="1"/>
          <p:nvPr/>
        </p:nvSpPr>
        <p:spPr>
          <a:xfrm>
            <a:off x="6411276" y="2226199"/>
            <a:ext cx="2225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EtreCheck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3250C2-2E3A-4C7A-ADD9-E94DC417933D}"/>
              </a:ext>
            </a:extLst>
          </p:cNvPr>
          <p:cNvSpPr/>
          <p:nvPr/>
        </p:nvSpPr>
        <p:spPr>
          <a:xfrm>
            <a:off x="3421202" y="1223863"/>
            <a:ext cx="1714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Macs Fan Control </a:t>
            </a:r>
            <a:endParaRPr lang="ru-RU" sz="4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5CD7C-841D-46B7-BEEC-98B510125B71}"/>
              </a:ext>
            </a:extLst>
          </p:cNvPr>
          <p:cNvSpPr/>
          <p:nvPr/>
        </p:nvSpPr>
        <p:spPr>
          <a:xfrm>
            <a:off x="9942424" y="2067806"/>
            <a:ext cx="12698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err="1"/>
              <a:t>OnyX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0C98B02-F6BB-4678-8459-60B2B204E2A6}"/>
              </a:ext>
            </a:extLst>
          </p:cNvPr>
          <p:cNvSpPr/>
          <p:nvPr/>
        </p:nvSpPr>
        <p:spPr>
          <a:xfrm>
            <a:off x="-43744" y="1709543"/>
            <a:ext cx="27014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err="1"/>
              <a:t>iStat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/>
              <a:t>Menus</a:t>
            </a:r>
            <a:endParaRPr lang="ru-RU" sz="4000" dirty="0"/>
          </a:p>
        </p:txBody>
      </p:sp>
      <p:pic>
        <p:nvPicPr>
          <p:cNvPr id="5124" name="Picture 4" descr="iStat Menus 6.73.1 (1240) скачать | macOS">
            <a:extLst>
              <a:ext uri="{FF2B5EF4-FFF2-40B4-BE49-F238E27FC236}">
                <a16:creationId xmlns:a16="http://schemas.microsoft.com/office/drawing/2014/main" id="{262A621E-7098-4DBA-A8E3-16DC8B21F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28" y="3162855"/>
            <a:ext cx="1673352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acs Fan Control Download Free - 1.5.20 | TechSpot">
            <a:extLst>
              <a:ext uri="{FF2B5EF4-FFF2-40B4-BE49-F238E27FC236}">
                <a16:creationId xmlns:a16="http://schemas.microsoft.com/office/drawing/2014/main" id="{8BEAC1D8-061F-40B9-9E7D-C0D7D6D66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040" y="3120552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EtreCheck Pro 6.8.3 скачать | macOS">
            <a:extLst>
              <a:ext uri="{FF2B5EF4-FFF2-40B4-BE49-F238E27FC236}">
                <a16:creationId xmlns:a16="http://schemas.microsoft.com/office/drawing/2014/main" id="{A20A03E5-F612-4067-AFC7-46138E4C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711" y="3018851"/>
            <a:ext cx="1760732" cy="176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OnyX 3.5.1 for macOS Mojave 10.14,Утилиты">
            <a:extLst>
              <a:ext uri="{FF2B5EF4-FFF2-40B4-BE49-F238E27FC236}">
                <a16:creationId xmlns:a16="http://schemas.microsoft.com/office/drawing/2014/main" id="{AE5D80BB-7024-4BE0-A160-C1858724D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509" y="2934085"/>
            <a:ext cx="1657826" cy="165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95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3B30B-0759-47AE-9B4F-A0A45AC96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3504" y="181798"/>
            <a:ext cx="9144000" cy="1263649"/>
          </a:xfrm>
        </p:spPr>
        <p:txBody>
          <a:bodyPr/>
          <a:lstStyle/>
          <a:p>
            <a:pPr algn="ctr"/>
            <a:r>
              <a:rPr lang="en-US" dirty="0"/>
              <a:t>Linux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E810D-1579-48A8-B95B-FD3B2E9AC737}"/>
              </a:ext>
            </a:extLst>
          </p:cNvPr>
          <p:cNvSpPr txBox="1"/>
          <p:nvPr/>
        </p:nvSpPr>
        <p:spPr>
          <a:xfrm>
            <a:off x="707136" y="3581400"/>
            <a:ext cx="4129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Командная строка</a:t>
            </a:r>
            <a:r>
              <a:rPr lang="en-US" sz="4000" dirty="0"/>
              <a:t>:</a:t>
            </a:r>
            <a:endParaRPr lang="ru-RU" sz="40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54D3483E-DA74-4199-B426-958EAA1BFC02}"/>
              </a:ext>
            </a:extLst>
          </p:cNvPr>
          <p:cNvCxnSpPr>
            <a:cxnSpLocks/>
            <a:stCxn id="11" idx="3"/>
            <a:endCxn id="6148" idx="1"/>
          </p:cNvCxnSpPr>
          <p:nvPr/>
        </p:nvCxnSpPr>
        <p:spPr>
          <a:xfrm flipV="1">
            <a:off x="4836921" y="3429000"/>
            <a:ext cx="2892806" cy="5063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AutoShape 2" descr="The Power Behind The Linux Terminal - DEV Community">
            <a:extLst>
              <a:ext uri="{FF2B5EF4-FFF2-40B4-BE49-F238E27FC236}">
                <a16:creationId xmlns:a16="http://schemas.microsoft.com/office/drawing/2014/main" id="{058CA45B-E802-41EA-B68C-E39F5C7D39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8" name="Picture 4" descr="Linux Terminal Introduction">
            <a:extLst>
              <a:ext uri="{FF2B5EF4-FFF2-40B4-BE49-F238E27FC236}">
                <a16:creationId xmlns:a16="http://schemas.microsoft.com/office/drawing/2014/main" id="{C4D907AB-B84C-4254-8F87-74B45FA6F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727" y="2173985"/>
            <a:ext cx="4462273" cy="251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204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17998-9838-401B-A88C-808B955C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862" y="468920"/>
            <a:ext cx="9144000" cy="1263649"/>
          </a:xfrm>
        </p:spPr>
        <p:txBody>
          <a:bodyPr/>
          <a:lstStyle/>
          <a:p>
            <a:pPr algn="ctr"/>
            <a:r>
              <a:rPr lang="ru-RU" dirty="0"/>
              <a:t>Графические утилиты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CCF20-FBF4-4A9D-8FE0-A647716DFE42}"/>
              </a:ext>
            </a:extLst>
          </p:cNvPr>
          <p:cNvSpPr txBox="1"/>
          <p:nvPr/>
        </p:nvSpPr>
        <p:spPr>
          <a:xfrm>
            <a:off x="8668777" y="2135696"/>
            <a:ext cx="1854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GNOME</a:t>
            </a:r>
            <a:r>
              <a:rPr lang="ru-RU" dirty="0"/>
              <a:t> </a:t>
            </a:r>
            <a:endParaRPr lang="ru-RU" sz="4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3250C2-2E3A-4C7A-ADD9-E94DC417933D}"/>
              </a:ext>
            </a:extLst>
          </p:cNvPr>
          <p:cNvSpPr/>
          <p:nvPr/>
        </p:nvSpPr>
        <p:spPr>
          <a:xfrm>
            <a:off x="4783612" y="1533799"/>
            <a:ext cx="17145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K</a:t>
            </a:r>
            <a:r>
              <a:rPr lang="en-US" sz="4000" dirty="0" err="1"/>
              <a:t>i</a:t>
            </a:r>
            <a:r>
              <a:rPr lang="ru-RU" sz="4000" dirty="0" err="1"/>
              <a:t>nfo</a:t>
            </a:r>
            <a:br>
              <a:rPr lang="en-US" sz="4000" dirty="0"/>
            </a:br>
            <a:r>
              <a:rPr lang="ru-RU" sz="4000" dirty="0" err="1"/>
              <a:t>Center</a:t>
            </a:r>
            <a:r>
              <a:rPr lang="ru-RU" dirty="0"/>
              <a:t> </a:t>
            </a:r>
            <a:endParaRPr lang="ru-RU" sz="4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0C98B02-F6BB-4678-8459-60B2B204E2A6}"/>
              </a:ext>
            </a:extLst>
          </p:cNvPr>
          <p:cNvSpPr/>
          <p:nvPr/>
        </p:nvSpPr>
        <p:spPr>
          <a:xfrm>
            <a:off x="545967" y="1968912"/>
            <a:ext cx="27014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err="1"/>
              <a:t>HardInfo</a:t>
            </a:r>
            <a:endParaRPr lang="ru-RU" sz="4000" dirty="0"/>
          </a:p>
        </p:txBody>
      </p:sp>
      <p:pic>
        <p:nvPicPr>
          <p:cNvPr id="7170" name="Picture 2" descr="HARDiNFO - скачать бесплатно для Windows">
            <a:extLst>
              <a:ext uri="{FF2B5EF4-FFF2-40B4-BE49-F238E27FC236}">
                <a16:creationId xmlns:a16="http://schemas.microsoft.com/office/drawing/2014/main" id="{992E8497-480C-4FA3-9874-45DB2326C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62" y="2786609"/>
            <a:ext cx="1659031" cy="165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ardinfo - информация о системе и устройствах. Программы для Linux">
            <a:extLst>
              <a:ext uri="{FF2B5EF4-FFF2-40B4-BE49-F238E27FC236}">
                <a16:creationId xmlns:a16="http://schemas.microsoft.com/office/drawing/2014/main" id="{5FD735E7-5092-4475-BFC0-61A03F1ED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67" y="4662482"/>
            <a:ext cx="2797066" cy="192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KInfoCenter - KDE UserBase Wiki">
            <a:extLst>
              <a:ext uri="{FF2B5EF4-FFF2-40B4-BE49-F238E27FC236}">
                <a16:creationId xmlns:a16="http://schemas.microsoft.com/office/drawing/2014/main" id="{F89CA8DA-39E0-49EE-A394-8AFAC5B5F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364" y="4662481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GNOME | Ubuntu">
            <a:extLst>
              <a:ext uri="{FF2B5EF4-FFF2-40B4-BE49-F238E27FC236}">
                <a16:creationId xmlns:a16="http://schemas.microsoft.com/office/drawing/2014/main" id="{4C0CBC23-BCB8-4036-AAD4-409821151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741" y="4575886"/>
            <a:ext cx="3563068" cy="2001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GNOME black sticker | FreeWear.org">
            <a:extLst>
              <a:ext uri="{FF2B5EF4-FFF2-40B4-BE49-F238E27FC236}">
                <a16:creationId xmlns:a16="http://schemas.microsoft.com/office/drawing/2014/main" id="{8BEB29AC-7FFB-4151-A149-8386BE633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124" y="2917484"/>
            <a:ext cx="1742299" cy="150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Plasma / KInfoCenter · GitLab">
            <a:extLst>
              <a:ext uri="{FF2B5EF4-FFF2-40B4-BE49-F238E27FC236}">
                <a16:creationId xmlns:a16="http://schemas.microsoft.com/office/drawing/2014/main" id="{64EA1329-144F-4030-90E9-DE25D4ED9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081" y="2843582"/>
            <a:ext cx="1659031" cy="165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26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2BA8F-7D00-45A8-BB87-8716096E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176" y="377952"/>
            <a:ext cx="9144000" cy="1263649"/>
          </a:xfrm>
        </p:spPr>
        <p:txBody>
          <a:bodyPr/>
          <a:lstStyle/>
          <a:p>
            <a:r>
              <a:rPr lang="ru-RU" dirty="0"/>
              <a:t>Кросс-платформенные решения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B098BA0-218B-465A-ADAC-223846A794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926229"/>
              </p:ext>
            </p:extLst>
          </p:nvPr>
        </p:nvGraphicFramePr>
        <p:xfrm>
          <a:off x="1060704" y="1641600"/>
          <a:ext cx="9314688" cy="4838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4896">
                  <a:extLst>
                    <a:ext uri="{9D8B030D-6E8A-4147-A177-3AD203B41FA5}">
                      <a16:colId xmlns:a16="http://schemas.microsoft.com/office/drawing/2014/main" val="3496355576"/>
                    </a:ext>
                  </a:extLst>
                </a:gridCol>
                <a:gridCol w="3104896">
                  <a:extLst>
                    <a:ext uri="{9D8B030D-6E8A-4147-A177-3AD203B41FA5}">
                      <a16:colId xmlns:a16="http://schemas.microsoft.com/office/drawing/2014/main" val="1592719421"/>
                    </a:ext>
                  </a:extLst>
                </a:gridCol>
                <a:gridCol w="3104896">
                  <a:extLst>
                    <a:ext uri="{9D8B030D-6E8A-4147-A177-3AD203B41FA5}">
                      <a16:colId xmlns:a16="http://schemas.microsoft.com/office/drawing/2014/main" val="3090620658"/>
                    </a:ext>
                  </a:extLst>
                </a:gridCol>
              </a:tblGrid>
              <a:tr h="6021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Инструмент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Поддерживаемые ОС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Особенности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793294"/>
                  </a:ext>
                </a:extLst>
              </a:tr>
              <a:tr h="9818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bg1"/>
                          </a:solidFill>
                          <a:effectLst/>
                        </a:rPr>
                        <a:t>Glances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Linux, macOS, Windows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Мониторинг ресурсов в реальном времени через терминал или веб-интерфейс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02033"/>
                  </a:ext>
                </a:extLst>
              </a:tr>
              <a:tr h="131469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HWMonitor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solidFill>
                            <a:schemeClr val="bg1"/>
                          </a:solidFill>
                          <a:effectLst/>
                        </a:rPr>
                        <a:t>Windows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  <a:effectLst/>
                        </a:rPr>
                        <a:t>macOS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  <a:effectLst/>
                        </a:rPr>
                        <a:t>Linux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Профессиональный анализ температур, напряжений, оборотов вентиляторов (от создателей CPU-Z)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269435"/>
                  </a:ext>
                </a:extLst>
              </a:tr>
              <a:tr h="9818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Open Hardware Monitor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Windows, Linux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Лёгкий мониторинг без установки; подходит для серверов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342492"/>
                  </a:ext>
                </a:extLst>
              </a:tr>
              <a:tr h="9580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iStat Menus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macOS, Windows (с 2025 г.)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Интеграция в строку меню, поддержка GPU и дисков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8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07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BA4FD-BDF5-4F99-AA0C-95542D9BE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63296"/>
            <a:ext cx="9144000" cy="126364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Тенденции 2025–2026 гг.: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1EB7C-88D0-4A13-B12D-AD4C3FFBE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14625"/>
            <a:ext cx="10668000" cy="4308095"/>
          </a:xfrm>
        </p:spPr>
        <p:txBody>
          <a:bodyPr>
            <a:normAutofit/>
          </a:bodyPr>
          <a:lstStyle/>
          <a:p>
            <a:r>
              <a:rPr lang="ru-RU" dirty="0"/>
              <a:t>✅ Унификация: </a:t>
            </a:r>
            <a:r>
              <a:rPr lang="ru-RU" dirty="0" err="1"/>
              <a:t>Glances</a:t>
            </a:r>
            <a:r>
              <a:rPr lang="ru-RU" dirty="0"/>
              <a:t>, </a:t>
            </a:r>
            <a:r>
              <a:rPr lang="ru-RU" dirty="0" err="1"/>
              <a:t>HWMonitor</a:t>
            </a:r>
            <a:r>
              <a:rPr lang="ru-RU" dirty="0"/>
              <a:t>, </a:t>
            </a:r>
            <a:r>
              <a:rPr lang="ru-RU" dirty="0" err="1"/>
              <a:t>iStat</a:t>
            </a:r>
            <a:r>
              <a:rPr lang="ru-RU" dirty="0"/>
              <a:t> </a:t>
            </a:r>
            <a:r>
              <a:rPr lang="ru-RU" dirty="0" err="1"/>
              <a:t>Menus</a:t>
            </a:r>
            <a:r>
              <a:rPr lang="ru-RU" dirty="0"/>
              <a:t> работают на всех платформах.</a:t>
            </a:r>
          </a:p>
          <a:p>
            <a:r>
              <a:rPr lang="ru-RU" dirty="0"/>
              <a:t>✅ Отказ от устаревших инструментов: </a:t>
            </a:r>
            <a:r>
              <a:rPr lang="ru-RU" dirty="0" err="1"/>
              <a:t>Neofetch</a:t>
            </a:r>
            <a:r>
              <a:rPr lang="ru-RU" dirty="0"/>
              <a:t> заменён на </a:t>
            </a:r>
            <a:r>
              <a:rPr lang="ru-RU" dirty="0" err="1"/>
              <a:t>FastFetch</a:t>
            </a:r>
            <a:r>
              <a:rPr lang="ru-RU" dirty="0"/>
              <a:t>.</a:t>
            </a:r>
          </a:p>
          <a:p>
            <a:r>
              <a:rPr lang="ru-RU" dirty="0"/>
              <a:t>✅ Акцент на безопасности: </a:t>
            </a:r>
            <a:r>
              <a:rPr lang="ru-RU" dirty="0" err="1"/>
              <a:t>Belarc</a:t>
            </a:r>
            <a:r>
              <a:rPr lang="ru-RU" dirty="0"/>
              <a:t> </a:t>
            </a:r>
            <a:r>
              <a:rPr lang="ru-RU" dirty="0" err="1"/>
              <a:t>Advisor</a:t>
            </a:r>
            <a:r>
              <a:rPr lang="ru-RU" dirty="0"/>
              <a:t>, </a:t>
            </a:r>
            <a:r>
              <a:rPr lang="ru-RU" dirty="0" err="1"/>
              <a:t>EtreCheck</a:t>
            </a:r>
            <a:r>
              <a:rPr lang="ru-RU" dirty="0"/>
              <a:t> анализируют лицензии и уязвимости.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8194027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202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Arial Nova Cond</vt:lpstr>
      <vt:lpstr>Calibri</vt:lpstr>
      <vt:lpstr>Impact</vt:lpstr>
      <vt:lpstr>TornVTI</vt:lpstr>
      <vt:lpstr>Утилиты</vt:lpstr>
      <vt:lpstr>Определение конфигурации ПК</vt:lpstr>
      <vt:lpstr>Windows</vt:lpstr>
      <vt:lpstr>Сторонние утилиты</vt:lpstr>
      <vt:lpstr>MacOS</vt:lpstr>
      <vt:lpstr>Сторонние утилиты</vt:lpstr>
      <vt:lpstr>Linux</vt:lpstr>
      <vt:lpstr>Графические утилиты</vt:lpstr>
      <vt:lpstr>Кросс-платформенные решения</vt:lpstr>
      <vt:lpstr>Тенденции 2025–2026 гг.: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Утилиты</dc:title>
  <dc:creator>Никита Бакшилов</dc:creator>
  <cp:lastModifiedBy>Никита Бакшилов</cp:lastModifiedBy>
  <cp:revision>3</cp:revision>
  <dcterms:created xsi:type="dcterms:W3CDTF">2026-01-26T20:59:25Z</dcterms:created>
  <dcterms:modified xsi:type="dcterms:W3CDTF">2026-01-26T21:44:09Z</dcterms:modified>
</cp:coreProperties>
</file>